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58" r:id="rId5"/>
    <p:sldId id="264" r:id="rId6"/>
    <p:sldId id="259" r:id="rId7"/>
    <p:sldId id="272" r:id="rId8"/>
    <p:sldId id="275" r:id="rId9"/>
    <p:sldId id="273" r:id="rId10"/>
    <p:sldId id="260" r:id="rId11"/>
    <p:sldId id="265" r:id="rId12"/>
    <p:sldId id="266" r:id="rId13"/>
    <p:sldId id="261" r:id="rId14"/>
    <p:sldId id="267" r:id="rId15"/>
    <p:sldId id="271" r:id="rId16"/>
    <p:sldId id="268" r:id="rId17"/>
    <p:sldId id="274" r:id="rId18"/>
    <p:sldId id="276" r:id="rId19"/>
    <p:sldId id="263"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90" autoAdjust="0"/>
    <p:restoredTop sz="94660"/>
  </p:normalViewPr>
  <p:slideViewPr>
    <p:cSldViewPr snapToGrid="0">
      <p:cViewPr varScale="1">
        <p:scale>
          <a:sx n="65" d="100"/>
          <a:sy n="65" d="100"/>
        </p:scale>
        <p:origin x="86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B9D537-577A-570F-7D9D-1C09F47589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2B180F71-861F-296B-6696-6E5281E43C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5F3C18A2-8245-F872-4165-0CF0A6955DA7}"/>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5" name="Footer Placeholder 4">
            <a:extLst>
              <a:ext uri="{FF2B5EF4-FFF2-40B4-BE49-F238E27FC236}">
                <a16:creationId xmlns:a16="http://schemas.microsoft.com/office/drawing/2014/main" xmlns="" id="{BA94E962-5E09-0505-AF9E-CDCB6AAAAF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002FADE-2851-FE06-98BE-D9BD7E3809A2}"/>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2846185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53B263-A8E6-5A75-3B1F-7B79C603E7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031DA36-FE2A-BC6A-F2E1-1D48D3CFF9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EC1FE7D-D772-5FB2-E952-86643017D3EC}"/>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5" name="Footer Placeholder 4">
            <a:extLst>
              <a:ext uri="{FF2B5EF4-FFF2-40B4-BE49-F238E27FC236}">
                <a16:creationId xmlns:a16="http://schemas.microsoft.com/office/drawing/2014/main" xmlns="" id="{CC4D2D20-6D4F-3F12-CC4E-179865CBD1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A521CB7-8E0E-D1BA-0E9F-AEC2202DCF17}"/>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275281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7F2DBB-E9FB-A980-BDFB-41DD29BF84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321D531-057C-4774-CF8C-AE5E2171EB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F420201-5EF1-0243-B10E-59E11D9783BB}"/>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5" name="Footer Placeholder 4">
            <a:extLst>
              <a:ext uri="{FF2B5EF4-FFF2-40B4-BE49-F238E27FC236}">
                <a16:creationId xmlns:a16="http://schemas.microsoft.com/office/drawing/2014/main" xmlns="" id="{943EFD1A-115B-2377-426A-A8326FD7E1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CF1AB1A-DD09-4D27-B0E9-E2BD1F11EBA6}"/>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373977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037138-6E7E-E8F4-E694-AD6CD2FFC8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43054E8-7568-50F9-23C8-50FE85F7C6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83A20352-1469-EB2E-F2A4-22DB269F9E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BDF664A4-ABE7-22D1-FA92-11947E6AC7F3}"/>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6" name="Footer Placeholder 5">
            <a:extLst>
              <a:ext uri="{FF2B5EF4-FFF2-40B4-BE49-F238E27FC236}">
                <a16:creationId xmlns:a16="http://schemas.microsoft.com/office/drawing/2014/main" xmlns="" id="{B5192A1D-1491-F967-3EA7-D10A5D4F20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11587AD-8B5C-DF30-8017-D12886740C38}"/>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3237444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8A698E-2600-313E-6A6D-4C5165633B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65C3579-46D6-BC8D-6B52-5A3132A02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3B7AE73-850F-237F-FF6A-33FE9ACF97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1A422490-2D5D-C7F6-4902-0FE55E57B7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FE65EBC-72BD-06A3-A287-D6C5E38D8F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25ED9C2-B125-6BAC-7197-8448C369CB9C}"/>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8" name="Footer Placeholder 7">
            <a:extLst>
              <a:ext uri="{FF2B5EF4-FFF2-40B4-BE49-F238E27FC236}">
                <a16:creationId xmlns:a16="http://schemas.microsoft.com/office/drawing/2014/main" xmlns="" id="{BE1540DA-F122-7EFF-CF5E-994FC36A22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DE9E158C-66F6-C18B-4BC0-412A7524D1A0}"/>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2884820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D57636-FB52-BB66-F0E3-C9EAF2E2B4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A54EA902-8AE3-DD0D-B093-A6EE5B32043A}"/>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4" name="Footer Placeholder 3">
            <a:extLst>
              <a:ext uri="{FF2B5EF4-FFF2-40B4-BE49-F238E27FC236}">
                <a16:creationId xmlns:a16="http://schemas.microsoft.com/office/drawing/2014/main" xmlns="" id="{97F0AF6B-A708-5B60-7D7A-AB8FB6185A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516983B0-1754-E5CD-B399-C8BE31C7F0F2}"/>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2227101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71CDA33-4845-E3AE-01A0-6B578226777C}"/>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3" name="Footer Placeholder 2">
            <a:extLst>
              <a:ext uri="{FF2B5EF4-FFF2-40B4-BE49-F238E27FC236}">
                <a16:creationId xmlns:a16="http://schemas.microsoft.com/office/drawing/2014/main" xmlns="" id="{EAC37B52-3671-22A8-9A4F-A5CE7C3290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8042C64F-7B87-A580-4D95-16439ADB8C7E}"/>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2265753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BE6C7D-143D-B63A-528A-FB7CEB0F9D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A3D902C-78D7-3487-0C4D-091AD48021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21E7712-43A1-B5A8-BEC5-02408EE2F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5FEBC75-34EB-BDA8-06D9-98B315A790FA}"/>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6" name="Footer Placeholder 5">
            <a:extLst>
              <a:ext uri="{FF2B5EF4-FFF2-40B4-BE49-F238E27FC236}">
                <a16:creationId xmlns:a16="http://schemas.microsoft.com/office/drawing/2014/main" xmlns="" id="{A8DBDB58-00FF-0C68-AE03-7B9545E36E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6C786F3-0DDE-68C6-D70B-AC1A3581E1C6}"/>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380592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A24403-EB84-5DE5-EB5C-87CEB3D278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3641C83-62F0-C79E-4F9A-91197D4E01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E45ADC2B-22A7-F9BD-9C3C-2931DC5592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03654C2-FD82-95B2-EEC9-03D02A995AA6}"/>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6" name="Footer Placeholder 5">
            <a:extLst>
              <a:ext uri="{FF2B5EF4-FFF2-40B4-BE49-F238E27FC236}">
                <a16:creationId xmlns:a16="http://schemas.microsoft.com/office/drawing/2014/main" xmlns="" id="{8DF31F08-951A-3CCF-B878-1FA7563AA7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3FBD07A-9494-DC73-2461-CE8E15592502}"/>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4291610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6B848F-37E4-8B6E-FB04-E94237159E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5F23957-546A-3D1A-EAB5-B2C7D03A6A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8C74D99-13B5-2BA8-8A2A-6B5ADDBE2895}"/>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5" name="Footer Placeholder 4">
            <a:extLst>
              <a:ext uri="{FF2B5EF4-FFF2-40B4-BE49-F238E27FC236}">
                <a16:creationId xmlns:a16="http://schemas.microsoft.com/office/drawing/2014/main" xmlns="" id="{923773F7-02CA-404E-7B40-2E3A36A14E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570D6D1-EBB9-9CA2-03A5-2DD180E8822A}"/>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405100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3F76273-D27C-7525-6373-5951B4266B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B24D996-A781-13A7-8068-AD957F9787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476CE17-0EA8-A12C-9515-3AF957720105}"/>
              </a:ext>
            </a:extLst>
          </p:cNvPr>
          <p:cNvSpPr>
            <a:spLocks noGrp="1"/>
          </p:cNvSpPr>
          <p:nvPr>
            <p:ph type="dt" sz="half" idx="10"/>
          </p:nvPr>
        </p:nvSpPr>
        <p:spPr/>
        <p:txBody>
          <a:bodyPr/>
          <a:lstStyle/>
          <a:p>
            <a:fld id="{D08AB56C-250F-42EC-AF6B-2DEF2E582B68}" type="datetimeFigureOut">
              <a:rPr lang="en-IN" smtClean="0"/>
              <a:t>23-04-2026</a:t>
            </a:fld>
            <a:endParaRPr lang="en-IN"/>
          </a:p>
        </p:txBody>
      </p:sp>
      <p:sp>
        <p:nvSpPr>
          <p:cNvPr id="5" name="Footer Placeholder 4">
            <a:extLst>
              <a:ext uri="{FF2B5EF4-FFF2-40B4-BE49-F238E27FC236}">
                <a16:creationId xmlns:a16="http://schemas.microsoft.com/office/drawing/2014/main" xmlns="" id="{F616B168-5382-4FEC-42DD-4DB3A55B8D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20C8680-E62F-5E00-7E96-D20E089BF6EC}"/>
              </a:ext>
            </a:extLst>
          </p:cNvPr>
          <p:cNvSpPr>
            <a:spLocks noGrp="1"/>
          </p:cNvSpPr>
          <p:nvPr>
            <p:ph type="sldNum" sz="quarter" idx="12"/>
          </p:nvPr>
        </p:nvSpPr>
        <p:spPr/>
        <p:txBody>
          <a:bodyPr/>
          <a:lstStyle/>
          <a:p>
            <a:fld id="{8743822D-DB3F-4AF8-9112-209E0FBC1944}" type="slidenum">
              <a:rPr lang="en-IN" smtClean="0"/>
              <a:t>‹#›</a:t>
            </a:fld>
            <a:endParaRPr lang="en-IN"/>
          </a:p>
        </p:txBody>
      </p:sp>
    </p:spTree>
    <p:extLst>
      <p:ext uri="{BB962C8B-B14F-4D97-AF65-F5344CB8AC3E}">
        <p14:creationId xmlns:p14="http://schemas.microsoft.com/office/powerpoint/2010/main" val="3134514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947BF855-5F05-0144-5E44-4EC0496C3A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3892C75-EC45-3011-5F48-663F998E05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CE7E353-E1D6-96F7-E625-A2816BDB98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8AB56C-250F-42EC-AF6B-2DEF2E582B68}" type="datetimeFigureOut">
              <a:rPr lang="en-IN" smtClean="0"/>
              <a:t>23-04-2026</a:t>
            </a:fld>
            <a:endParaRPr lang="en-IN"/>
          </a:p>
        </p:txBody>
      </p:sp>
      <p:sp>
        <p:nvSpPr>
          <p:cNvPr id="5" name="Footer Placeholder 4">
            <a:extLst>
              <a:ext uri="{FF2B5EF4-FFF2-40B4-BE49-F238E27FC236}">
                <a16:creationId xmlns:a16="http://schemas.microsoft.com/office/drawing/2014/main" xmlns="" id="{FF41A773-EC3C-CB3C-CFC5-89DD3FF74D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9586FB07-B04C-6A4E-722A-D918966D4D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43822D-DB3F-4AF8-9112-209E0FBC1944}" type="slidenum">
              <a:rPr lang="en-IN" smtClean="0"/>
              <a:t>‹#›</a:t>
            </a:fld>
            <a:endParaRPr lang="en-IN"/>
          </a:p>
        </p:txBody>
      </p:sp>
    </p:spTree>
    <p:extLst>
      <p:ext uri="{BB962C8B-B14F-4D97-AF65-F5344CB8AC3E}">
        <p14:creationId xmlns:p14="http://schemas.microsoft.com/office/powerpoint/2010/main" val="24558686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D61451-C180-E3DF-CEB4-F798268DADB9}"/>
              </a:ext>
            </a:extLst>
          </p:cNvPr>
          <p:cNvSpPr>
            <a:spLocks noGrp="1"/>
          </p:cNvSpPr>
          <p:nvPr>
            <p:ph type="ctrTitle"/>
          </p:nvPr>
        </p:nvSpPr>
        <p:spPr>
          <a:xfrm>
            <a:off x="1524000" y="1977770"/>
            <a:ext cx="9144000" cy="2387600"/>
          </a:xfrm>
        </p:spPr>
        <p:txBody>
          <a:bodyPr>
            <a:normAutofit fontScale="90000"/>
          </a:bodyPr>
          <a:lstStyle/>
          <a:p>
            <a:r>
              <a:rPr lang="en-US" b="1" dirty="0"/>
              <a:t>COMPUTATIONAL METHODS FOR PRECISION SIGNAL SYNTHESIS IN QUANTUM SENSING SUBSYSTEMS</a:t>
            </a:r>
            <a:endParaRPr lang="en-IN" dirty="0"/>
          </a:p>
        </p:txBody>
      </p:sp>
      <p:sp>
        <p:nvSpPr>
          <p:cNvPr id="4" name="TextBox 3">
            <a:extLst>
              <a:ext uri="{FF2B5EF4-FFF2-40B4-BE49-F238E27FC236}">
                <a16:creationId xmlns:a16="http://schemas.microsoft.com/office/drawing/2014/main" xmlns="" id="{5F270190-73C2-967F-2472-2468492D08E9}"/>
              </a:ext>
            </a:extLst>
          </p:cNvPr>
          <p:cNvSpPr txBox="1"/>
          <p:nvPr/>
        </p:nvSpPr>
        <p:spPr>
          <a:xfrm>
            <a:off x="737419" y="5132591"/>
            <a:ext cx="7403690" cy="92333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By:</a:t>
            </a:r>
          </a:p>
          <a:p>
            <a:r>
              <a:rPr lang="en-IN" b="1" dirty="0" err="1">
                <a:latin typeface="Times New Roman" panose="02020603050405020304" pitchFamily="18" charset="0"/>
                <a:cs typeface="Times New Roman" panose="02020603050405020304" pitchFamily="18" charset="0"/>
              </a:rPr>
              <a:t>Anumoy</a:t>
            </a:r>
            <a:r>
              <a:rPr lang="en-IN" b="1" dirty="0">
                <a:latin typeface="Times New Roman" panose="02020603050405020304" pitchFamily="18" charset="0"/>
                <a:cs typeface="Times New Roman" panose="02020603050405020304" pitchFamily="18" charset="0"/>
              </a:rPr>
              <a:t> Pathak</a:t>
            </a:r>
          </a:p>
          <a:p>
            <a:r>
              <a:rPr lang="en-IN" b="1" dirty="0" err="1">
                <a:latin typeface="Times New Roman" panose="02020603050405020304" pitchFamily="18" charset="0"/>
                <a:cs typeface="Times New Roman" panose="02020603050405020304" pitchFamily="18" charset="0"/>
              </a:rPr>
              <a:t>Jayabrota</a:t>
            </a:r>
            <a:r>
              <a:rPr lang="en-IN" b="1" dirty="0">
                <a:latin typeface="Times New Roman" panose="02020603050405020304" pitchFamily="18" charset="0"/>
                <a:cs typeface="Times New Roman" panose="02020603050405020304" pitchFamily="18" charset="0"/>
              </a:rPr>
              <a:t> Banerjee</a:t>
            </a:r>
          </a:p>
        </p:txBody>
      </p:sp>
      <p:sp>
        <p:nvSpPr>
          <p:cNvPr id="5" name="TextBox 4">
            <a:extLst>
              <a:ext uri="{FF2B5EF4-FFF2-40B4-BE49-F238E27FC236}">
                <a16:creationId xmlns:a16="http://schemas.microsoft.com/office/drawing/2014/main" xmlns="" id="{FE388A13-2377-2869-C2F0-42CB683CD121}"/>
              </a:ext>
            </a:extLst>
          </p:cNvPr>
          <p:cNvSpPr txBox="1"/>
          <p:nvPr/>
        </p:nvSpPr>
        <p:spPr>
          <a:xfrm>
            <a:off x="2772696" y="4263992"/>
            <a:ext cx="6921909" cy="646331"/>
          </a:xfrm>
          <a:prstGeom prst="rect">
            <a:avLst/>
          </a:prstGeom>
          <a:noFill/>
        </p:spPr>
        <p:txBody>
          <a:bodyPr wrap="square" rtlCol="0">
            <a:spAutoFit/>
          </a:bodyPr>
          <a:lstStyle/>
          <a:p>
            <a:pPr algn="ctr"/>
            <a:r>
              <a:rPr lang="en-IN" dirty="0"/>
              <a:t>Under Supervision of </a:t>
            </a:r>
          </a:p>
          <a:p>
            <a:pPr algn="ctr"/>
            <a:r>
              <a:rPr lang="en-IN" dirty="0"/>
              <a:t>Prof.(Dr.) Indrajit De And Dr. Aishik Acharya</a:t>
            </a:r>
          </a:p>
        </p:txBody>
      </p:sp>
    </p:spTree>
    <p:extLst>
      <p:ext uri="{BB962C8B-B14F-4D97-AF65-F5344CB8AC3E}">
        <p14:creationId xmlns:p14="http://schemas.microsoft.com/office/powerpoint/2010/main" val="3944505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D806BEB-77BE-892C-1A87-90B8C5463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34E9FA3-5F6F-698F-1BF9-39BA5EA21296}"/>
              </a:ext>
            </a:extLst>
          </p:cNvPr>
          <p:cNvSpPr>
            <a:spLocks noGrp="1"/>
          </p:cNvSpPr>
          <p:nvPr>
            <p:ph type="ctrTitle"/>
          </p:nvPr>
        </p:nvSpPr>
        <p:spPr>
          <a:xfrm>
            <a:off x="1524000" y="294966"/>
            <a:ext cx="9144000" cy="838131"/>
          </a:xfrm>
        </p:spPr>
        <p:txBody>
          <a:bodyPr>
            <a:normAutofit fontScale="90000"/>
          </a:bodyPr>
          <a:lstStyle/>
          <a:p>
            <a:r>
              <a:rPr lang="en-US" b="1" dirty="0"/>
              <a:t>Introduction</a:t>
            </a:r>
            <a:endParaRPr lang="en-IN" dirty="0"/>
          </a:p>
        </p:txBody>
      </p:sp>
      <p:sp>
        <p:nvSpPr>
          <p:cNvPr id="3" name="TextBox 2">
            <a:extLst>
              <a:ext uri="{FF2B5EF4-FFF2-40B4-BE49-F238E27FC236}">
                <a16:creationId xmlns:a16="http://schemas.microsoft.com/office/drawing/2014/main" xmlns="" id="{C1970E6B-F760-A0A9-8716-33FC55E5CE7E}"/>
              </a:ext>
            </a:extLst>
          </p:cNvPr>
          <p:cNvSpPr txBox="1"/>
          <p:nvPr/>
        </p:nvSpPr>
        <p:spPr>
          <a:xfrm>
            <a:off x="1071716" y="1691148"/>
            <a:ext cx="10323871" cy="3693319"/>
          </a:xfrm>
          <a:prstGeom prst="rect">
            <a:avLst/>
          </a:prstGeom>
          <a:noFill/>
        </p:spPr>
        <p:txBody>
          <a:bodyPr wrap="square" rtlCol="0">
            <a:spAutoFit/>
          </a:bodyPr>
          <a:lstStyle/>
          <a:p>
            <a:pPr marL="285750" indent="-285750">
              <a:buFont typeface="Arial" panose="020B0604020202020204" pitchFamily="34" charset="0"/>
              <a:buChar char="•"/>
            </a:pPr>
            <a:r>
              <a:rPr lang="en-IN" dirty="0"/>
              <a:t>Cold atom interferometry (CAI) represents a frontier in precision measurement technology, enabling direct observation of gravitational acceleration, rotations, and fundamental constants with quantum-limited accuracy.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At the heart of a cold atom interferometer, typically involve a combination of Raman or Bragg laser pulses that coherently split, redirect, and recombine the atomic wave packets.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Therefore, precise control of multiple laser beams, frequency references, and timing signals is an essential engineering challenge in such experiments.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address this, a custom-built embedded control system has been developed, designed around an STM32 microcontroller, a Direct Digital Synthesizer (DDS), and an FPGA-based Phase- Comparator.</a:t>
            </a:r>
          </a:p>
          <a:p>
            <a:endParaRPr lang="en-IN" dirty="0"/>
          </a:p>
        </p:txBody>
      </p:sp>
    </p:spTree>
    <p:extLst>
      <p:ext uri="{BB962C8B-B14F-4D97-AF65-F5344CB8AC3E}">
        <p14:creationId xmlns:p14="http://schemas.microsoft.com/office/powerpoint/2010/main" val="1621702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Quantum gravimeter subsystem prepared by TCG CREST</a:t>
            </a:r>
          </a:p>
        </p:txBody>
      </p:sp>
      <p:pic>
        <p:nvPicPr>
          <p:cNvPr id="4" name="Content Placeholder 3"/>
          <p:cNvPicPr>
            <a:picLocks noGrp="1" noChangeAspect="1"/>
          </p:cNvPicPr>
          <p:nvPr>
            <p:ph idx="1"/>
          </p:nvPr>
        </p:nvPicPr>
        <p:blipFill>
          <a:blip r:embed="rId2"/>
          <a:stretch>
            <a:fillRect/>
          </a:stretch>
        </p:blipFill>
        <p:spPr>
          <a:xfrm>
            <a:off x="236387" y="1690688"/>
            <a:ext cx="5079065" cy="5167312"/>
          </a:xfrm>
          <a:prstGeom prst="rect">
            <a:avLst/>
          </a:prstGeom>
        </p:spPr>
      </p:pic>
      <p:pic>
        <p:nvPicPr>
          <p:cNvPr id="5" name="Picture 4"/>
          <p:cNvPicPr>
            <a:picLocks noChangeAspect="1"/>
          </p:cNvPicPr>
          <p:nvPr/>
        </p:nvPicPr>
        <p:blipFill>
          <a:blip r:embed="rId3"/>
          <a:stretch>
            <a:fillRect/>
          </a:stretch>
        </p:blipFill>
        <p:spPr>
          <a:xfrm>
            <a:off x="5315452" y="1690688"/>
            <a:ext cx="6038348" cy="5129098"/>
          </a:xfrm>
          <a:prstGeom prst="rect">
            <a:avLst/>
          </a:prstGeom>
        </p:spPr>
      </p:pic>
    </p:spTree>
    <p:extLst>
      <p:ext uri="{BB962C8B-B14F-4D97-AF65-F5344CB8AC3E}">
        <p14:creationId xmlns:p14="http://schemas.microsoft.com/office/powerpoint/2010/main" val="4009991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BFAA30-F188-2E90-9508-8954C6D5FDC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C6B3D163-735A-44CD-AFD9-E4AC3FBB726E}"/>
              </a:ext>
            </a:extLst>
          </p:cNvPr>
          <p:cNvSpPr>
            <a:spLocks noGrp="1"/>
          </p:cNvSpPr>
          <p:nvPr>
            <p:ph type="ctrTitle"/>
          </p:nvPr>
        </p:nvSpPr>
        <p:spPr>
          <a:xfrm>
            <a:off x="1016000" y="129304"/>
            <a:ext cx="10143612" cy="2938003"/>
          </a:xfrm>
        </p:spPr>
        <p:txBody>
          <a:bodyPr>
            <a:normAutofit fontScale="90000"/>
          </a:bodyPr>
          <a:lstStyle/>
          <a:p>
            <a:r>
              <a:rPr lang="en-US" b="1" dirty="0"/>
              <a:t>Signal generation using STM32 G431RB for multiple pulse control</a:t>
            </a:r>
            <a:r>
              <a:rPr lang="en-IN" dirty="0"/>
              <a:t/>
            </a:r>
            <a:br>
              <a:rPr lang="en-IN" dirty="0"/>
            </a:br>
            <a:endParaRPr lang="en-IN" dirty="0"/>
          </a:p>
        </p:txBody>
      </p:sp>
      <p:pic>
        <p:nvPicPr>
          <p:cNvPr id="7" name="Picture 6" descr="A circuit board with wires connected to it&#10;&#10;AI-generated content may be incorrect.">
            <a:extLst>
              <a:ext uri="{FF2B5EF4-FFF2-40B4-BE49-F238E27FC236}">
                <a16:creationId xmlns:a16="http://schemas.microsoft.com/office/drawing/2014/main" xmlns="" id="{63441985-96C0-1157-7EEC-DA912F3D44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96857" y="2747173"/>
            <a:ext cx="6598285" cy="3693055"/>
          </a:xfrm>
          <a:prstGeom prst="rect">
            <a:avLst/>
          </a:prstGeom>
        </p:spPr>
      </p:pic>
      <p:sp>
        <p:nvSpPr>
          <p:cNvPr id="2" name="Right Arrow 1"/>
          <p:cNvSpPr/>
          <p:nvPr/>
        </p:nvSpPr>
        <p:spPr>
          <a:xfrm>
            <a:off x="6671733" y="2897716"/>
            <a:ext cx="234950" cy="1841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ight Arrow 2"/>
          <p:cNvSpPr/>
          <p:nvPr/>
        </p:nvSpPr>
        <p:spPr>
          <a:xfrm>
            <a:off x="6610350" y="3232409"/>
            <a:ext cx="23495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ight Arrow 7"/>
          <p:cNvSpPr/>
          <p:nvPr/>
        </p:nvSpPr>
        <p:spPr>
          <a:xfrm>
            <a:off x="6727825" y="4327000"/>
            <a:ext cx="234950" cy="1841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ight Arrow 8"/>
          <p:cNvSpPr/>
          <p:nvPr/>
        </p:nvSpPr>
        <p:spPr>
          <a:xfrm>
            <a:off x="6700308" y="4661693"/>
            <a:ext cx="234950" cy="1841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Left Arrow 3"/>
          <p:cNvSpPr/>
          <p:nvPr/>
        </p:nvSpPr>
        <p:spPr>
          <a:xfrm>
            <a:off x="4679950" y="4104225"/>
            <a:ext cx="234950" cy="8307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0735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F4F2EAD-B5D2-8CF2-1353-06AB4985F2B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C57358CC-5742-D3DB-CBE5-CE8B1EE79D88}"/>
              </a:ext>
            </a:extLst>
          </p:cNvPr>
          <p:cNvSpPr>
            <a:spLocks noGrp="1"/>
          </p:cNvSpPr>
          <p:nvPr>
            <p:ph type="ctrTitle"/>
          </p:nvPr>
        </p:nvSpPr>
        <p:spPr>
          <a:xfrm>
            <a:off x="1206500" y="1132605"/>
            <a:ext cx="9978512" cy="1864595"/>
          </a:xfrm>
        </p:spPr>
        <p:txBody>
          <a:bodyPr>
            <a:normAutofit fontScale="90000"/>
          </a:bodyPr>
          <a:lstStyle/>
          <a:p>
            <a:r>
              <a:rPr lang="en-US" b="1" dirty="0"/>
              <a:t>Signal generation using STM32 G431RB for multiple pulse control</a:t>
            </a:r>
            <a:r>
              <a:rPr lang="en-IN" dirty="0"/>
              <a:t/>
            </a:r>
            <a:br>
              <a:rPr lang="en-IN" dirty="0"/>
            </a:br>
            <a:endParaRPr lang="en-IN" dirty="0"/>
          </a:p>
        </p:txBody>
      </p:sp>
      <p:sp>
        <p:nvSpPr>
          <p:cNvPr id="3" name="TextBox 2">
            <a:extLst>
              <a:ext uri="{FF2B5EF4-FFF2-40B4-BE49-F238E27FC236}">
                <a16:creationId xmlns:a16="http://schemas.microsoft.com/office/drawing/2014/main" xmlns="" id="{F16BDB5E-B1FC-BA2D-890D-4D818852C8D7}"/>
              </a:ext>
            </a:extLst>
          </p:cNvPr>
          <p:cNvSpPr txBox="1"/>
          <p:nvPr/>
        </p:nvSpPr>
        <p:spPr>
          <a:xfrm>
            <a:off x="924232" y="2323743"/>
            <a:ext cx="9714271" cy="3477875"/>
          </a:xfrm>
          <a:prstGeom prst="rect">
            <a:avLst/>
          </a:prstGeom>
          <a:noFill/>
        </p:spPr>
        <p:txBody>
          <a:bodyPr wrap="square">
            <a:spAutoFit/>
          </a:bodyPr>
          <a:lstStyle/>
          <a:p>
            <a:pPr marL="457200">
              <a:buNone/>
            </a:pPr>
            <a:r>
              <a:rPr lang="en-US" sz="2000" dirty="0">
                <a:effectLst/>
                <a:latin typeface="Times New Roman" panose="02020603050405020304" pitchFamily="18" charset="0"/>
                <a:ea typeface="Times New Roman" panose="02020603050405020304" pitchFamily="18" charset="0"/>
              </a:rPr>
              <a:t>The STM32G4 Nucleo-64 boards based on the MB1367 reference board (NUCLEO-G431RB, NUCLEO-G474RE, NUCLEO-G491RE) provide an affordable and flexible way for users to try out new concepts and build prototypes with the STM32G4 series microcontrollers,</a:t>
            </a:r>
            <a:endParaRPr lang="en-IN" sz="2000" dirty="0">
              <a:effectLst/>
              <a:latin typeface="Times New Roman" panose="02020603050405020304" pitchFamily="18" charset="0"/>
              <a:ea typeface="Times New Roman" panose="02020603050405020304" pitchFamily="18" charset="0"/>
            </a:endParaRPr>
          </a:p>
          <a:p>
            <a:pPr marL="457200">
              <a:buNone/>
            </a:pPr>
            <a:r>
              <a:rPr lang="en-US" sz="2000" dirty="0">
                <a:effectLst/>
                <a:latin typeface="Times New Roman" panose="02020603050405020304" pitchFamily="18" charset="0"/>
                <a:ea typeface="Times New Roman" panose="02020603050405020304" pitchFamily="18" charset="0"/>
              </a:rPr>
              <a:t>choosing from the various combinations of performance, power consumption, and features. Our system consists of an STM32G431RB microcontroller responsible for generating four independent digital control signals used to operate beam shutters. Each signal can be programmed with specific parameters including delay, pulse width, polarity, and enable status. The control signals are synchronized with an external trigger pulse generated by an Arduino board. The entire setup is tested and validated using a Red Pitaya, which provides real-time visualization and waveform analysis.</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4233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CD2D7B9-0CE8-9F32-EE08-1235999537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C1D659D7-1C33-B5B9-4602-CF229469BAAC}"/>
              </a:ext>
            </a:extLst>
          </p:cNvPr>
          <p:cNvSpPr>
            <a:spLocks noGrp="1"/>
          </p:cNvSpPr>
          <p:nvPr>
            <p:ph type="ctrTitle"/>
          </p:nvPr>
        </p:nvSpPr>
        <p:spPr>
          <a:xfrm>
            <a:off x="-334297" y="462115"/>
            <a:ext cx="12821265" cy="1700982"/>
          </a:xfrm>
        </p:spPr>
        <p:txBody>
          <a:bodyPr>
            <a:normAutofit fontScale="90000"/>
          </a:bodyPr>
          <a:lstStyle/>
          <a:p>
            <a:r>
              <a:rPr lang="en-US" b="1" dirty="0"/>
              <a:t>Signal generation using STM32 G431RB for multiple pulse control</a:t>
            </a:r>
            <a:endParaRPr lang="en-IN" dirty="0"/>
          </a:p>
        </p:txBody>
      </p:sp>
      <p:pic>
        <p:nvPicPr>
          <p:cNvPr id="8" name="Picture 7" descr="A screen shot of a computer&#10;&#10;AI-generated content may be incorrect.">
            <a:extLst>
              <a:ext uri="{FF2B5EF4-FFF2-40B4-BE49-F238E27FC236}">
                <a16:creationId xmlns:a16="http://schemas.microsoft.com/office/drawing/2014/main" xmlns="" id="{4C586D7F-D2F0-2E59-0A2D-1BA279D2F7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5007" y="1924039"/>
            <a:ext cx="9635613" cy="4627182"/>
          </a:xfrm>
          <a:prstGeom prst="rect">
            <a:avLst/>
          </a:prstGeom>
        </p:spPr>
      </p:pic>
    </p:spTree>
    <p:extLst>
      <p:ext uri="{BB962C8B-B14F-4D97-AF65-F5344CB8AC3E}">
        <p14:creationId xmlns:p14="http://schemas.microsoft.com/office/powerpoint/2010/main" val="141682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Waveform triggered by DDS</a:t>
            </a:r>
          </a:p>
        </p:txBody>
      </p:sp>
      <p:pic>
        <p:nvPicPr>
          <p:cNvPr id="2050" name="Picture 2" descr="Red Pitaya Interfac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0509" y="1818968"/>
            <a:ext cx="10673291" cy="4908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039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4093CE-27B6-F885-89D3-5D1660179CF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xmlns="" id="{413FF2DF-4330-02EB-91BE-C253CDB3E500}"/>
              </a:ext>
            </a:extLst>
          </p:cNvPr>
          <p:cNvSpPr>
            <a:spLocks noGrp="1"/>
          </p:cNvSpPr>
          <p:nvPr>
            <p:ph type="title"/>
          </p:nvPr>
        </p:nvSpPr>
        <p:spPr>
          <a:xfrm>
            <a:off x="838200" y="365125"/>
            <a:ext cx="10515600" cy="1325563"/>
          </a:xfrm>
        </p:spPr>
        <p:txBody>
          <a:bodyPr/>
          <a:lstStyle/>
          <a:p>
            <a:r>
              <a:rPr lang="en-IN" dirty="0"/>
              <a:t>Result Accuracy</a:t>
            </a:r>
            <a:br>
              <a:rPr lang="en-IN" dirty="0"/>
            </a:br>
            <a:r>
              <a:rPr lang="en-IN" dirty="0"/>
              <a:t>				</a:t>
            </a:r>
            <a:r>
              <a:rPr lang="en-IN" sz="2000" dirty="0"/>
              <a:t>Timing Precision Graph</a:t>
            </a:r>
          </a:p>
        </p:txBody>
      </p:sp>
      <p:pic>
        <p:nvPicPr>
          <p:cNvPr id="9" name="Picture 8">
            <a:extLst>
              <a:ext uri="{FF2B5EF4-FFF2-40B4-BE49-F238E27FC236}">
                <a16:creationId xmlns:a16="http://schemas.microsoft.com/office/drawing/2014/main" xmlns="" id="{68DDB9A4-4D4C-B739-1139-93EA1894BDEB}"/>
              </a:ext>
            </a:extLst>
          </p:cNvPr>
          <p:cNvPicPr>
            <a:picLocks noChangeAspect="1"/>
          </p:cNvPicPr>
          <p:nvPr/>
        </p:nvPicPr>
        <p:blipFill>
          <a:blip r:embed="rId2"/>
          <a:stretch>
            <a:fillRect/>
          </a:stretch>
        </p:blipFill>
        <p:spPr>
          <a:xfrm>
            <a:off x="2013430" y="1520664"/>
            <a:ext cx="7160067" cy="4649677"/>
          </a:xfrm>
          <a:prstGeom prst="rect">
            <a:avLst/>
          </a:prstGeom>
        </p:spPr>
      </p:pic>
    </p:spTree>
    <p:extLst>
      <p:ext uri="{BB962C8B-B14F-4D97-AF65-F5344CB8AC3E}">
        <p14:creationId xmlns:p14="http://schemas.microsoft.com/office/powerpoint/2010/main" val="1780476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DDS code for PLL locking on FPGA</a:t>
            </a:r>
          </a:p>
        </p:txBody>
      </p:sp>
      <p:pic>
        <p:nvPicPr>
          <p:cNvPr id="3074" name="Picture 2" descr="Arduino IDE Screensh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021404"/>
            <a:ext cx="10515600" cy="3959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929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0382BBB-5215-FC49-42C4-C39717912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BF6A468-1759-6358-7BD4-2668F43A32B9}"/>
              </a:ext>
            </a:extLst>
          </p:cNvPr>
          <p:cNvSpPr>
            <a:spLocks noGrp="1"/>
          </p:cNvSpPr>
          <p:nvPr>
            <p:ph type="ctrTitle"/>
          </p:nvPr>
        </p:nvSpPr>
        <p:spPr>
          <a:xfrm>
            <a:off x="806246" y="0"/>
            <a:ext cx="10073148" cy="1818968"/>
          </a:xfrm>
        </p:spPr>
        <p:txBody>
          <a:bodyPr>
            <a:normAutofit fontScale="90000"/>
          </a:bodyPr>
          <a:lstStyle/>
          <a:p>
            <a:r>
              <a:rPr lang="en-US" b="1" dirty="0"/>
              <a:t>Signal generation using DDS to simulate laser</a:t>
            </a:r>
            <a:endParaRPr lang="en-IN" dirty="0"/>
          </a:p>
        </p:txBody>
      </p:sp>
      <p:pic>
        <p:nvPicPr>
          <p:cNvPr id="3" name="Picture 2" descr="A close up of a circuit board&#10;&#10;AI-generated content may be incorrect.">
            <a:extLst>
              <a:ext uri="{FF2B5EF4-FFF2-40B4-BE49-F238E27FC236}">
                <a16:creationId xmlns:a16="http://schemas.microsoft.com/office/drawing/2014/main" xmlns="" id="{FA11E4C3-0A78-CBC2-438D-DB6A6966EBD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256" r="850" b="35828"/>
          <a:stretch>
            <a:fillRect/>
          </a:stretch>
        </p:blipFill>
        <p:spPr bwMode="auto">
          <a:xfrm>
            <a:off x="1887794" y="2235179"/>
            <a:ext cx="8259096" cy="355558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84487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5EF87A5-F6A6-DD43-377B-28AD5380D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AE30C22-AB36-5D1C-4428-27994828CBD8}"/>
              </a:ext>
            </a:extLst>
          </p:cNvPr>
          <p:cNvSpPr>
            <a:spLocks noGrp="1"/>
          </p:cNvSpPr>
          <p:nvPr>
            <p:ph type="ctrTitle"/>
          </p:nvPr>
        </p:nvSpPr>
        <p:spPr>
          <a:xfrm>
            <a:off x="747252" y="0"/>
            <a:ext cx="10132141" cy="1818968"/>
          </a:xfrm>
        </p:spPr>
        <p:txBody>
          <a:bodyPr>
            <a:normAutofit fontScale="90000"/>
          </a:bodyPr>
          <a:lstStyle/>
          <a:p>
            <a:r>
              <a:rPr lang="en-US" b="1" dirty="0"/>
              <a:t>Signal generation using DDS to simulate laser</a:t>
            </a:r>
            <a:endParaRPr lang="en-IN" dirty="0"/>
          </a:p>
        </p:txBody>
      </p:sp>
      <p:sp>
        <p:nvSpPr>
          <p:cNvPr id="5" name="TextBox 4">
            <a:extLst>
              <a:ext uri="{FF2B5EF4-FFF2-40B4-BE49-F238E27FC236}">
                <a16:creationId xmlns:a16="http://schemas.microsoft.com/office/drawing/2014/main" xmlns="" id="{F8E80DE4-074D-BFA7-4BAA-99B8D3F3BF12}"/>
              </a:ext>
            </a:extLst>
          </p:cNvPr>
          <p:cNvSpPr txBox="1"/>
          <p:nvPr/>
        </p:nvSpPr>
        <p:spPr>
          <a:xfrm>
            <a:off x="1101213" y="2732971"/>
            <a:ext cx="10038735" cy="2862322"/>
          </a:xfrm>
          <a:prstGeom prst="rect">
            <a:avLst/>
          </a:prstGeom>
          <a:noFill/>
        </p:spPr>
        <p:txBody>
          <a:bodyPr wrap="square">
            <a:spAutoFit/>
          </a:bodyPr>
          <a:lstStyle/>
          <a:p>
            <a:r>
              <a:rPr lang="en-IN" sz="2000" dirty="0">
                <a:effectLst/>
                <a:latin typeface="Times New Roman" panose="02020603050405020304" pitchFamily="18" charset="0"/>
                <a:ea typeface="Times New Roman" panose="02020603050405020304" pitchFamily="18" charset="0"/>
              </a:rPr>
              <a:t>In quantum gravimetry experiments based on cold atom interferometry, precisely controlled laser frequencies are essential for manipulating atomic states through Raman or Bragg transitions. </a:t>
            </a:r>
            <a:r>
              <a:rPr lang="en-IN" sz="2000" dirty="0"/>
              <a:t>The Direct Digital Synthesizer (DDS) offers an excellent solution by providing fine frequency, phase, and amplitude control with high spectral purity and fast switching capability.</a:t>
            </a:r>
          </a:p>
          <a:p>
            <a:endParaRPr lang="en-IN" sz="2000" dirty="0"/>
          </a:p>
          <a:p>
            <a:endParaRPr lang="en-IN" sz="2000" dirty="0"/>
          </a:p>
          <a:p>
            <a:r>
              <a:rPr lang="en-IN" sz="2000" dirty="0"/>
              <a:t>In this setup, the Arduino Mega 2560 is used as the control interface for the AD9910 DDS, enabling digital programming of frequency tuning words, phase offsets, and profile registers via the SPI communication protocol. </a:t>
            </a:r>
          </a:p>
        </p:txBody>
      </p:sp>
    </p:spTree>
    <p:extLst>
      <p:ext uri="{BB962C8B-B14F-4D97-AF65-F5344CB8AC3E}">
        <p14:creationId xmlns:p14="http://schemas.microsoft.com/office/powerpoint/2010/main" val="1219370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F325C2-24A4-659F-2A22-D9756C289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E299520-1EB1-F57C-0879-BACC245F06B0}"/>
              </a:ext>
            </a:extLst>
          </p:cNvPr>
          <p:cNvSpPr>
            <a:spLocks noGrp="1"/>
          </p:cNvSpPr>
          <p:nvPr>
            <p:ph type="ctrTitle"/>
          </p:nvPr>
        </p:nvSpPr>
        <p:spPr>
          <a:xfrm>
            <a:off x="619432" y="-580103"/>
            <a:ext cx="10259961" cy="2399071"/>
          </a:xfrm>
        </p:spPr>
        <p:txBody>
          <a:bodyPr>
            <a:normAutofit fontScale="90000"/>
          </a:bodyPr>
          <a:lstStyle/>
          <a:p>
            <a:r>
              <a:rPr lang="en-US" b="1" dirty="0"/>
              <a:t>Signal generation using DDS to simulate laser</a:t>
            </a:r>
            <a:endParaRPr lang="en-IN" dirty="0"/>
          </a:p>
        </p:txBody>
      </p:sp>
      <p:pic>
        <p:nvPicPr>
          <p:cNvPr id="3" name="Picture 2" descr="A screen shot of a computer&#10;&#10;AI-generated content may be incorrect.">
            <a:extLst>
              <a:ext uri="{FF2B5EF4-FFF2-40B4-BE49-F238E27FC236}">
                <a16:creationId xmlns:a16="http://schemas.microsoft.com/office/drawing/2014/main" xmlns="" id="{3C459D34-EBAD-16A2-46EC-A3B30466D19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0434" b="6862"/>
          <a:stretch>
            <a:fillRect/>
          </a:stretch>
        </p:blipFill>
        <p:spPr bwMode="auto">
          <a:xfrm>
            <a:off x="1505327" y="1907345"/>
            <a:ext cx="9181344" cy="427105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45626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8F50042-70F9-51C6-4692-E44785FA8E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4C4082A2-97BB-23A6-F298-9750E7B56929}"/>
              </a:ext>
            </a:extLst>
          </p:cNvPr>
          <p:cNvSpPr>
            <a:spLocks noGrp="1"/>
          </p:cNvSpPr>
          <p:nvPr>
            <p:ph type="ctrTitle"/>
          </p:nvPr>
        </p:nvSpPr>
        <p:spPr>
          <a:xfrm>
            <a:off x="-324465" y="1122362"/>
            <a:ext cx="12840928" cy="1325869"/>
          </a:xfrm>
        </p:spPr>
        <p:txBody>
          <a:bodyPr>
            <a:normAutofit fontScale="90000"/>
          </a:bodyPr>
          <a:lstStyle/>
          <a:p>
            <a:r>
              <a:rPr lang="en-US" b="1" dirty="0"/>
              <a:t>Signal generation using FPGA to make a Phase Comparator</a:t>
            </a:r>
            <a:r>
              <a:rPr lang="en-IN" dirty="0"/>
              <a:t/>
            </a:r>
            <a:br>
              <a:rPr lang="en-IN" dirty="0"/>
            </a:br>
            <a:endParaRPr lang="en-IN" dirty="0"/>
          </a:p>
        </p:txBody>
      </p:sp>
      <p:pic>
        <p:nvPicPr>
          <p:cNvPr id="7" name="Picture 6" descr="A circuit board with wires&#10;&#10;AI-generated content may be incorrect.">
            <a:extLst>
              <a:ext uri="{FF2B5EF4-FFF2-40B4-BE49-F238E27FC236}">
                <a16:creationId xmlns:a16="http://schemas.microsoft.com/office/drawing/2014/main" xmlns="" id="{27D3BC1F-B8E6-69C8-39D6-980473A7408F}"/>
              </a:ext>
            </a:extLst>
          </p:cNvPr>
          <p:cNvPicPr>
            <a:picLocks noChangeAspect="1"/>
          </p:cNvPicPr>
          <p:nvPr/>
        </p:nvPicPr>
        <p:blipFill rotWithShape="1">
          <a:blip r:embed="rId2">
            <a:extLst>
              <a:ext uri="{28A0092B-C50C-407E-A947-70E740481C1C}">
                <a14:useLocalDpi xmlns:a14="http://schemas.microsoft.com/office/drawing/2010/main" val="0"/>
              </a:ext>
            </a:extLst>
          </a:blip>
          <a:srcRect l="-360" t="15041" r="13558" b="6795"/>
          <a:stretch>
            <a:fillRect/>
          </a:stretch>
        </p:blipFill>
        <p:spPr bwMode="auto">
          <a:xfrm rot="10800000">
            <a:off x="4135755" y="1785297"/>
            <a:ext cx="3920490" cy="47244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60115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DBDD82-F451-85F6-DFB8-7BC224D8243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8D71BE10-D723-5542-6013-173C02D6ADAF}"/>
              </a:ext>
            </a:extLst>
          </p:cNvPr>
          <p:cNvSpPr>
            <a:spLocks noGrp="1"/>
          </p:cNvSpPr>
          <p:nvPr>
            <p:ph type="ctrTitle"/>
          </p:nvPr>
        </p:nvSpPr>
        <p:spPr>
          <a:xfrm>
            <a:off x="255640" y="965047"/>
            <a:ext cx="12133006" cy="1325869"/>
          </a:xfrm>
        </p:spPr>
        <p:txBody>
          <a:bodyPr>
            <a:normAutofit fontScale="90000"/>
          </a:bodyPr>
          <a:lstStyle/>
          <a:p>
            <a:r>
              <a:rPr lang="en-US" b="1" dirty="0"/>
              <a:t>Signal generation using FPGA to make a Phase Comparator</a:t>
            </a:r>
            <a:r>
              <a:rPr lang="en-IN" dirty="0"/>
              <a:t/>
            </a:r>
            <a:br>
              <a:rPr lang="en-IN" dirty="0"/>
            </a:br>
            <a:endParaRPr lang="en-IN" dirty="0"/>
          </a:p>
        </p:txBody>
      </p:sp>
      <p:sp>
        <p:nvSpPr>
          <p:cNvPr id="3" name="TextBox 2">
            <a:extLst>
              <a:ext uri="{FF2B5EF4-FFF2-40B4-BE49-F238E27FC236}">
                <a16:creationId xmlns:a16="http://schemas.microsoft.com/office/drawing/2014/main" xmlns="" id="{DE6E0F1D-3381-D0DF-A546-A70EF8F2497E}"/>
              </a:ext>
            </a:extLst>
          </p:cNvPr>
          <p:cNvSpPr txBox="1"/>
          <p:nvPr/>
        </p:nvSpPr>
        <p:spPr>
          <a:xfrm>
            <a:off x="1007806" y="2448232"/>
            <a:ext cx="10176387" cy="2862322"/>
          </a:xfrm>
          <a:prstGeom prst="rect">
            <a:avLst/>
          </a:prstGeom>
          <a:noFill/>
        </p:spPr>
        <p:txBody>
          <a:bodyPr wrap="square">
            <a:spAutoFit/>
          </a:bodyPr>
          <a:lstStyle/>
          <a:p>
            <a:pPr marL="457200" algn="just">
              <a:buNone/>
            </a:pPr>
            <a:r>
              <a:rPr lang="en-IN" sz="2000" dirty="0">
                <a:effectLst/>
                <a:latin typeface="Times New Roman" panose="02020603050405020304" pitchFamily="18" charset="0"/>
                <a:ea typeface="Times New Roman" panose="02020603050405020304" pitchFamily="18" charset="0"/>
              </a:rPr>
              <a:t>Quantum gravimetry relies on the precise control and synchronization of electromagnetic signals that drive laser-based atom interferometers. Accurate phase coherence between reference and experimental signals is critical for detecting the minute phase shifts induced by gravitational acceleration on cold atoms. To achieve this level of control, stable frequency generation and precise phase comparison hardware are essential.</a:t>
            </a:r>
          </a:p>
          <a:p>
            <a:pPr marL="457200" algn="just">
              <a:buNone/>
            </a:pPr>
            <a:endParaRPr lang="en-IN" sz="2000" dirty="0">
              <a:latin typeface="Times New Roman" panose="02020603050405020304" pitchFamily="18" charset="0"/>
              <a:ea typeface="Times New Roman" panose="02020603050405020304" pitchFamily="18" charset="0"/>
            </a:endParaRPr>
          </a:p>
          <a:p>
            <a:pPr marL="457200" algn="just">
              <a:buNone/>
            </a:pPr>
            <a:endParaRPr lang="en-IN" sz="2000" dirty="0">
              <a:effectLst/>
              <a:latin typeface="Times New Roman" panose="02020603050405020304" pitchFamily="18" charset="0"/>
              <a:ea typeface="Times New Roman" panose="02020603050405020304" pitchFamily="18" charset="0"/>
            </a:endParaRPr>
          </a:p>
          <a:p>
            <a:pPr marL="457200" algn="just">
              <a:buNone/>
            </a:pPr>
            <a:r>
              <a:rPr lang="en-IN" sz="2000" dirty="0">
                <a:effectLst/>
                <a:latin typeface="Times New Roman" panose="02020603050405020304" pitchFamily="18" charset="0"/>
                <a:ea typeface="Times New Roman" panose="02020603050405020304" pitchFamily="18" charset="0"/>
              </a:rPr>
              <a:t>In this project, a Field-Programmable Gate Array (FPGA) is employed to generate a reference frequency derived from its internal 125 MHz system clock.</a:t>
            </a:r>
            <a:endParaRPr lang="en-IN" sz="2000" dirty="0"/>
          </a:p>
        </p:txBody>
      </p:sp>
    </p:spTree>
    <p:extLst>
      <p:ext uri="{BB962C8B-B14F-4D97-AF65-F5344CB8AC3E}">
        <p14:creationId xmlns:p14="http://schemas.microsoft.com/office/powerpoint/2010/main" val="148484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Methodology</a:t>
            </a:r>
          </a:p>
        </p:txBody>
      </p:sp>
      <p:pic>
        <p:nvPicPr>
          <p:cNvPr id="1030" name="Picture 6" descr="PlantUML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35003" y="1245644"/>
            <a:ext cx="3832260" cy="5596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10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CACF75C-FDC1-A5F9-FDF9-87E6C8E47E7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B465A356-5B09-BBF8-E97A-5687996FDBEF}"/>
              </a:ext>
            </a:extLst>
          </p:cNvPr>
          <p:cNvSpPr>
            <a:spLocks noGrp="1"/>
          </p:cNvSpPr>
          <p:nvPr>
            <p:ph type="ctrTitle"/>
          </p:nvPr>
        </p:nvSpPr>
        <p:spPr>
          <a:xfrm>
            <a:off x="255638" y="1299344"/>
            <a:ext cx="11936362" cy="1325869"/>
          </a:xfrm>
        </p:spPr>
        <p:txBody>
          <a:bodyPr>
            <a:normAutofit fontScale="90000"/>
          </a:bodyPr>
          <a:lstStyle/>
          <a:p>
            <a:r>
              <a:rPr lang="en-US" b="1" dirty="0"/>
              <a:t>Signal generation using FPGA to make a Phase Comparator</a:t>
            </a:r>
            <a:r>
              <a:rPr lang="en-IN" dirty="0"/>
              <a:t/>
            </a:r>
            <a:br>
              <a:rPr lang="en-IN" dirty="0"/>
            </a:br>
            <a:endParaRPr lang="en-IN" dirty="0"/>
          </a:p>
        </p:txBody>
      </p:sp>
      <p:pic>
        <p:nvPicPr>
          <p:cNvPr id="2" name="Picture 1" descr="A screen with a yellow line&#10;&#10;AI-generated content may be incorrect.">
            <a:extLst>
              <a:ext uri="{FF2B5EF4-FFF2-40B4-BE49-F238E27FC236}">
                <a16:creationId xmlns:a16="http://schemas.microsoft.com/office/drawing/2014/main" xmlns="" id="{C5B73C17-F919-9CDA-FBBA-627B400837F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5120" y="1743269"/>
            <a:ext cx="6701760" cy="5026099"/>
          </a:xfrm>
          <a:prstGeom prst="rect">
            <a:avLst/>
          </a:prstGeom>
          <a:noFill/>
          <a:ln>
            <a:noFill/>
          </a:ln>
        </p:spPr>
      </p:pic>
    </p:spTree>
    <p:extLst>
      <p:ext uri="{BB962C8B-B14F-4D97-AF65-F5344CB8AC3E}">
        <p14:creationId xmlns:p14="http://schemas.microsoft.com/office/powerpoint/2010/main" val="1087458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Results &amp; Discussion</a:t>
            </a:r>
          </a:p>
        </p:txBody>
      </p:sp>
      <p:pic>
        <p:nvPicPr>
          <p:cNvPr id="7" name="Image 81">
            <a:extLst>
              <a:ext uri="{FF2B5EF4-FFF2-40B4-BE49-F238E27FC236}">
                <a16:creationId xmlns:a16="http://schemas.microsoft.com/office/drawing/2014/main" xmlns="" id="{AC06F96A-9BD8-5E05-F64A-59C11902C508}"/>
              </a:ext>
            </a:extLst>
          </p:cNvPr>
          <p:cNvPicPr>
            <a:picLocks/>
          </p:cNvPicPr>
          <p:nvPr/>
        </p:nvPicPr>
        <p:blipFill>
          <a:blip r:embed="rId2" cstate="print"/>
          <a:stretch>
            <a:fillRect/>
          </a:stretch>
        </p:blipFill>
        <p:spPr>
          <a:xfrm>
            <a:off x="868148" y="1825624"/>
            <a:ext cx="5827620" cy="4260543"/>
          </a:xfrm>
          <a:prstGeom prst="rect">
            <a:avLst/>
          </a:prstGeom>
        </p:spPr>
      </p:pic>
      <p:pic>
        <p:nvPicPr>
          <p:cNvPr id="11" name="Picture 10">
            <a:extLst>
              <a:ext uri="{FF2B5EF4-FFF2-40B4-BE49-F238E27FC236}">
                <a16:creationId xmlns:a16="http://schemas.microsoft.com/office/drawing/2014/main" xmlns="" id="{0FC366A0-D4A9-F4B6-7DE4-43A3E0AC92DF}"/>
              </a:ext>
            </a:extLst>
          </p:cNvPr>
          <p:cNvPicPr>
            <a:picLocks noChangeAspect="1"/>
          </p:cNvPicPr>
          <p:nvPr/>
        </p:nvPicPr>
        <p:blipFill>
          <a:blip r:embed="rId3"/>
          <a:stretch>
            <a:fillRect/>
          </a:stretch>
        </p:blipFill>
        <p:spPr>
          <a:xfrm>
            <a:off x="7156499" y="2045795"/>
            <a:ext cx="4888017" cy="2766410"/>
          </a:xfrm>
          <a:prstGeom prst="rect">
            <a:avLst/>
          </a:prstGeom>
        </p:spPr>
      </p:pic>
    </p:spTree>
    <p:extLst>
      <p:ext uri="{BB962C8B-B14F-4D97-AF65-F5344CB8AC3E}">
        <p14:creationId xmlns:p14="http://schemas.microsoft.com/office/powerpoint/2010/main" val="3505972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4" name="Content Placeholder 3"/>
          <p:cNvPicPr>
            <a:picLocks noGrp="1" noChangeAspect="1"/>
          </p:cNvPicPr>
          <p:nvPr>
            <p:ph idx="1"/>
          </p:nvPr>
        </p:nvPicPr>
        <p:blipFill>
          <a:blip r:embed="rId2"/>
          <a:stretch>
            <a:fillRect/>
          </a:stretch>
        </p:blipFill>
        <p:spPr>
          <a:xfrm>
            <a:off x="0" y="1027906"/>
            <a:ext cx="6642353" cy="4351338"/>
          </a:xfrm>
          <a:prstGeom prst="rect">
            <a:avLst/>
          </a:prstGeom>
        </p:spPr>
      </p:pic>
      <p:pic>
        <p:nvPicPr>
          <p:cNvPr id="5" name="Picture 4"/>
          <p:cNvPicPr>
            <a:picLocks noChangeAspect="1"/>
          </p:cNvPicPr>
          <p:nvPr/>
        </p:nvPicPr>
        <p:blipFill>
          <a:blip r:embed="rId3"/>
          <a:stretch>
            <a:fillRect/>
          </a:stretch>
        </p:blipFill>
        <p:spPr>
          <a:xfrm>
            <a:off x="6487888" y="1980430"/>
            <a:ext cx="5633415" cy="2522744"/>
          </a:xfrm>
          <a:prstGeom prst="rect">
            <a:avLst/>
          </a:prstGeom>
        </p:spPr>
      </p:pic>
    </p:spTree>
    <p:extLst>
      <p:ext uri="{BB962C8B-B14F-4D97-AF65-F5344CB8AC3E}">
        <p14:creationId xmlns:p14="http://schemas.microsoft.com/office/powerpoint/2010/main" val="1158972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60D55B6-4559-F0F6-157E-FF324FB5B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2090F42-E89A-9E23-3E93-AD8AAF4480AD}"/>
              </a:ext>
            </a:extLst>
          </p:cNvPr>
          <p:cNvSpPr>
            <a:spLocks noGrp="1"/>
          </p:cNvSpPr>
          <p:nvPr>
            <p:ph type="ctrTitle"/>
          </p:nvPr>
        </p:nvSpPr>
        <p:spPr>
          <a:xfrm>
            <a:off x="1170039" y="0"/>
            <a:ext cx="9144000" cy="1101060"/>
          </a:xfrm>
        </p:spPr>
        <p:txBody>
          <a:bodyPr>
            <a:normAutofit/>
          </a:bodyPr>
          <a:lstStyle/>
          <a:p>
            <a:r>
              <a:rPr lang="en-US" b="1" dirty="0"/>
              <a:t>Future Work</a:t>
            </a:r>
            <a:endParaRPr lang="en-IN" dirty="0"/>
          </a:p>
        </p:txBody>
      </p:sp>
      <p:sp>
        <p:nvSpPr>
          <p:cNvPr id="3" name="TextBox 2">
            <a:extLst>
              <a:ext uri="{FF2B5EF4-FFF2-40B4-BE49-F238E27FC236}">
                <a16:creationId xmlns:a16="http://schemas.microsoft.com/office/drawing/2014/main" xmlns="" id="{FB17F222-AA3E-6B6F-99B3-C17CB3C59F47}"/>
              </a:ext>
            </a:extLst>
          </p:cNvPr>
          <p:cNvSpPr txBox="1"/>
          <p:nvPr/>
        </p:nvSpPr>
        <p:spPr>
          <a:xfrm>
            <a:off x="1366684" y="1769806"/>
            <a:ext cx="10058400" cy="1938992"/>
          </a:xfrm>
          <a:prstGeom prst="rect">
            <a:avLst/>
          </a:prstGeom>
          <a:noFill/>
        </p:spPr>
        <p:txBody>
          <a:bodyPr wrap="square" rtlCol="0">
            <a:spAutoFit/>
          </a:bodyPr>
          <a:lstStyle/>
          <a:p>
            <a:r>
              <a:rPr lang="en-IN" sz="2000" dirty="0"/>
              <a:t>In future we want to :</a:t>
            </a:r>
          </a:p>
          <a:p>
            <a:endParaRPr lang="en-IN" sz="2000" dirty="0"/>
          </a:p>
          <a:p>
            <a:pPr marL="342900" indent="-342900">
              <a:buFont typeface="Arial" panose="020B0604020202020204" pitchFamily="34" charset="0"/>
              <a:buChar char="•"/>
            </a:pPr>
            <a:r>
              <a:rPr lang="en-IN" sz="2000" dirty="0"/>
              <a:t>Synchronize all these systems together to ease up the quantum gravimetry based experiments.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We will also create a AI Assisted </a:t>
            </a:r>
            <a:r>
              <a:rPr lang="en-IN" sz="2000" dirty="0" err="1"/>
              <a:t>FeedBack</a:t>
            </a:r>
            <a:r>
              <a:rPr lang="en-IN" sz="2000" dirty="0"/>
              <a:t> Loop  integrated with  the Arty Z7 FPGA.</a:t>
            </a:r>
          </a:p>
        </p:txBody>
      </p:sp>
    </p:spTree>
    <p:extLst>
      <p:ext uri="{BB962C8B-B14F-4D97-AF65-F5344CB8AC3E}">
        <p14:creationId xmlns:p14="http://schemas.microsoft.com/office/powerpoint/2010/main" val="3120237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59EF1BF-97B9-5B42-8505-85B351663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C8589F7-8717-4364-E283-87CE076E993B}"/>
              </a:ext>
            </a:extLst>
          </p:cNvPr>
          <p:cNvSpPr>
            <a:spLocks noGrp="1"/>
          </p:cNvSpPr>
          <p:nvPr>
            <p:ph type="ctrTitle"/>
          </p:nvPr>
        </p:nvSpPr>
        <p:spPr>
          <a:xfrm>
            <a:off x="1406013" y="2074607"/>
            <a:ext cx="9144000" cy="1101060"/>
          </a:xfrm>
        </p:spPr>
        <p:txBody>
          <a:bodyPr>
            <a:normAutofit/>
          </a:bodyPr>
          <a:lstStyle/>
          <a:p>
            <a:r>
              <a:rPr lang="en-US" b="1" dirty="0"/>
              <a:t>Thank You</a:t>
            </a:r>
            <a:endParaRPr lang="en-IN" dirty="0"/>
          </a:p>
        </p:txBody>
      </p:sp>
      <p:sp>
        <p:nvSpPr>
          <p:cNvPr id="4" name="TextBox 3">
            <a:extLst>
              <a:ext uri="{FF2B5EF4-FFF2-40B4-BE49-F238E27FC236}">
                <a16:creationId xmlns:a16="http://schemas.microsoft.com/office/drawing/2014/main" xmlns="" id="{FCC16FE0-AFED-14FE-95F1-5ACCC34F9E74}"/>
              </a:ext>
            </a:extLst>
          </p:cNvPr>
          <p:cNvSpPr txBox="1"/>
          <p:nvPr/>
        </p:nvSpPr>
        <p:spPr>
          <a:xfrm>
            <a:off x="4001729" y="3429000"/>
            <a:ext cx="4355690" cy="1200329"/>
          </a:xfrm>
          <a:prstGeom prst="rect">
            <a:avLst/>
          </a:prstGeom>
          <a:noFill/>
        </p:spPr>
        <p:txBody>
          <a:bodyPr wrap="square" rtlCol="0">
            <a:spAutoFit/>
          </a:bodyPr>
          <a:lstStyle/>
          <a:p>
            <a:pPr algn="ctr"/>
            <a:r>
              <a:rPr lang="en-IN" dirty="0"/>
              <a:t>Special Thanks to </a:t>
            </a:r>
          </a:p>
          <a:p>
            <a:pPr algn="ctr"/>
            <a:r>
              <a:rPr lang="en-IN" dirty="0" err="1"/>
              <a:t>CQuERE</a:t>
            </a:r>
            <a:r>
              <a:rPr lang="en-IN" dirty="0"/>
              <a:t>, TCG CREST </a:t>
            </a:r>
          </a:p>
          <a:p>
            <a:pPr algn="ctr"/>
            <a:r>
              <a:rPr lang="en-IN" dirty="0"/>
              <a:t>&amp; </a:t>
            </a:r>
          </a:p>
          <a:p>
            <a:pPr algn="ctr"/>
            <a:r>
              <a:rPr lang="en-IN" dirty="0"/>
              <a:t>CSBS Department(IEM)</a:t>
            </a:r>
          </a:p>
        </p:txBody>
      </p:sp>
    </p:spTree>
    <p:extLst>
      <p:ext uri="{BB962C8B-B14F-4D97-AF65-F5344CB8AC3E}">
        <p14:creationId xmlns:p14="http://schemas.microsoft.com/office/powerpoint/2010/main" val="1621401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1839</TotalTime>
  <Words>613</Words>
  <Application>Microsoft Office PowerPoint</Application>
  <PresentationFormat>Widescreen</PresentationFormat>
  <Paragraphs>51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Times New Roman</vt:lpstr>
      <vt:lpstr>Office Theme</vt:lpstr>
      <vt:lpstr>COMPUTATIONAL METHODS FOR PRECISION SIGNAL SYNTHESIS IN QUANTUM SENSING SUBSYSTEMS</vt:lpstr>
      <vt:lpstr>Introduction</vt:lpstr>
      <vt:lpstr>Quantum gravimeter subsystem prepared by TCG CREST</vt:lpstr>
      <vt:lpstr>Signal generation using STM32 G431RB for multiple pulse control </vt:lpstr>
      <vt:lpstr>Signal generation using STM32 G431RB for multiple pulse control </vt:lpstr>
      <vt:lpstr>Signal generation using STM32 G431RB for multiple pulse control</vt:lpstr>
      <vt:lpstr>Waveform triggered by DDS</vt:lpstr>
      <vt:lpstr>Result Accuracy     Timing Precision Graph</vt:lpstr>
      <vt:lpstr>DDS code for PLL locking on FPGA</vt:lpstr>
      <vt:lpstr>Signal generation using DDS to simulate laser</vt:lpstr>
      <vt:lpstr>Signal generation using DDS to simulate laser</vt:lpstr>
      <vt:lpstr>Signal generation using DDS to simulate laser</vt:lpstr>
      <vt:lpstr>Signal generation using FPGA to make a Phase Comparator </vt:lpstr>
      <vt:lpstr>Signal generation using FPGA to make a Phase Comparator </vt:lpstr>
      <vt:lpstr>Proposed Methodology</vt:lpstr>
      <vt:lpstr>Signal generation using FPGA to make a Phase Comparator </vt:lpstr>
      <vt:lpstr>Results &amp; Discussion</vt:lpstr>
      <vt:lpstr> </vt:lpstr>
      <vt:lpstr>Future Work</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METHODS FOR PRECISION SIGNAL SYNTHESIS IN QUANTUM SENSING SUBSYSTEMS</dc:title>
  <dc:creator>anumoypathak@gmail.com</dc:creator>
  <cp:lastModifiedBy>Jayabrota Banerjee</cp:lastModifiedBy>
  <cp:revision>15</cp:revision>
  <dcterms:created xsi:type="dcterms:W3CDTF">2025-11-08T09:08:57Z</dcterms:created>
  <dcterms:modified xsi:type="dcterms:W3CDTF">2026-04-23T14:04:43Z</dcterms:modified>
</cp:coreProperties>
</file>